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26307A"/>
          </a:solidFill>
        </p:spPr>
      </p:sp>
      <p:sp>
        <p:nvSpPr>
          <p:cNvPr id="4" name="Shape 2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2C3785"/>
          </a:solidFill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9601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智能讲解引擎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9601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智讲 PPT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8961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一次上传，多端讲解 —— 让每一份 PPT 都能被精准、可信、随时随地地讲述出来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7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客户方案讲解  ｜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今天我们将谈到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554480" y="2203704"/>
            <a:ext cx="0" cy="0"/>
          </a:xfrm>
          <a:prstGeom prst="line">
            <a:avLst/>
          </a:prstGeom>
          <a:noFill/>
        </p:spPr>
      </p:sp>
      <p:sp>
        <p:nvSpPr>
          <p:cNvPr id="6" name="Text 4"/>
          <p:cNvSpPr txBox="1"/>
          <p:nvPr/>
        </p:nvSpPr>
        <p:spPr>
          <a:xfrm>
            <a:off x="1737360" y="18745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市场趋势与同类产品全景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554480" y="3072384"/>
            <a:ext cx="0" cy="0"/>
          </a:xfrm>
          <a:prstGeom prst="line">
            <a:avLst/>
          </a:prstGeom>
          <a:noFill/>
        </p:spPr>
      </p:sp>
      <p:sp>
        <p:nvSpPr>
          <p:cNvPr id="9" name="Text 7"/>
          <p:cNvSpPr txBox="1"/>
          <p:nvPr/>
        </p:nvSpPr>
        <p:spPr>
          <a:xfrm>
            <a:off x="1737360" y="274320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产品定位与应用场景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11880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554480" y="3941064"/>
            <a:ext cx="0" cy="0"/>
          </a:xfrm>
          <a:prstGeom prst="line">
            <a:avLst/>
          </a:prstGeom>
          <a:noFill/>
        </p:spPr>
      </p:sp>
      <p:sp>
        <p:nvSpPr>
          <p:cNvPr id="12" name="Text 10"/>
          <p:cNvSpPr txBox="1"/>
          <p:nvPr/>
        </p:nvSpPr>
        <p:spPr>
          <a:xfrm>
            <a:off x="1737360" y="361188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核心功能与用户体验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480560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554480" y="4809744"/>
            <a:ext cx="0" cy="0"/>
          </a:xfrm>
          <a:prstGeom prst="line">
            <a:avLst/>
          </a:prstGeom>
          <a:noFill/>
        </p:spPr>
      </p:sp>
      <p:sp>
        <p:nvSpPr>
          <p:cNvPr id="15" name="Text 13"/>
          <p:cNvSpPr txBox="1"/>
          <p:nvPr/>
        </p:nvSpPr>
        <p:spPr>
          <a:xfrm>
            <a:off x="1737360" y="448056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核心技术与架构优势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49240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1554480" y="5678424"/>
            <a:ext cx="0" cy="0"/>
          </a:xfrm>
          <a:prstGeom prst="line">
            <a:avLst/>
          </a:prstGeom>
          <a:noFill/>
        </p:spPr>
      </p:sp>
      <p:sp>
        <p:nvSpPr>
          <p:cNvPr id="18" name="Text 16"/>
          <p:cNvSpPr txBox="1"/>
          <p:nvPr/>
        </p:nvSpPr>
        <p:spPr>
          <a:xfrm>
            <a:off x="1737360" y="53492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安全合规、成本与路线图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TREND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为什么是现在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三个正在同时发生的结构性变化，让「AI自动讲解PPT」从可选项变成必选项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3F6FC"/>
          </a:solidFill>
        </p:spPr>
      </p:sp>
      <p:sp>
        <p:nvSpPr>
          <p:cNvPr id="6" name="Shape 4"/>
          <p:cNvSpPr/>
          <p:nvPr/>
        </p:nvSpPr>
        <p:spPr>
          <a:xfrm>
            <a:off x="868680" y="2651760"/>
            <a:ext cx="822960" cy="82296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7" name="Image 0" descr="icons/cpu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346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657600"/>
            <a:ext cx="2926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生成式AI能力成熟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251960"/>
            <a:ext cx="29260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文字转专业配音、多模态内容理解已进入可规模化商用阶段，不再是实验室能力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22860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3F6FC"/>
          </a:solidFill>
        </p:spPr>
      </p:sp>
      <p:sp>
        <p:nvSpPr>
          <p:cNvPr id="11" name="Shape 8"/>
          <p:cNvSpPr/>
          <p:nvPr/>
        </p:nvSpPr>
        <p:spPr>
          <a:xfrm>
            <a:off x="4663440" y="2651760"/>
            <a:ext cx="822960" cy="82296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2" name="Image 1" descr="icons/refresh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8346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3657600"/>
            <a:ext cx="2926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培训内容生产方式转变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4251960"/>
            <a:ext cx="29260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企业内训、在线课程正从依赖真人录制，转向自动化、可批量迭代的内容生产模式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2860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3F6FC"/>
          </a:solidFill>
        </p:spPr>
      </p:sp>
      <p:sp>
        <p:nvSpPr>
          <p:cNvPr id="16" name="Shape 12"/>
          <p:cNvSpPr/>
          <p:nvPr/>
        </p:nvSpPr>
        <p:spPr>
          <a:xfrm>
            <a:off x="8458200" y="2651760"/>
            <a:ext cx="822960" cy="82296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7" name="Image 2" descr="icons/monito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8346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58200" y="3657600"/>
            <a:ext cx="2926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多端交付成为采购标配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58200" y="4251960"/>
            <a:ext cx="29260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Web、移动、桌面三端一致体验，以及数据隐私与本地化处理能力，已成为企业软件采购的常规要求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同类产品全景对比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600200"/>
          <a:ext cx="11064240" cy="329184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3931920"/>
                <a:gridCol w="2743200"/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路径</a:t>
                      </a:r>
                      <a:endParaRPr lang="en-US" sz="12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代表产品</a:t>
                      </a:r>
                      <a:endParaRPr lang="en-US" sz="12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核心能力</a:t>
                      </a:r>
                      <a:endParaRPr lang="en-US" sz="12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典型局限</a:t>
                      </a:r>
                      <a:endParaRPr lang="en-US" sz="12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3C"/>
                          </a:solidFill>
                        </a:rPr>
                        <a:t>PowerPoint内嵌配音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2A3C"/>
                          </a:solidFill>
                        </a:rPr>
                        <a:t>Murf 插件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3C"/>
                          </a:solidFill>
                        </a:rPr>
                        <a:t>导入备注/逐页讲稿，插件式嵌入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3C"/>
                          </a:solidFill>
                        </a:rPr>
                        <a:t>依赖插件生态，非独立平台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3C"/>
                          </a:solidFill>
                        </a:rPr>
                        <a:t>PPT转AI讲解视频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2A3C"/>
                          </a:solidFill>
                        </a:rPr>
                        <a:t>Synthesia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3C"/>
                          </a:solidFill>
                        </a:rPr>
                        <a:t>PPT导入+备注自动生成脚本+数字人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3C"/>
                          </a:solidFill>
                        </a:rPr>
                        <a:t>自动生成讲稿已成基础项，非差异化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3C"/>
                          </a:solidFill>
                        </a:rPr>
                        <a:t>备注驱动批量视频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2A3C"/>
                          </a:solidFill>
                        </a:rPr>
                        <a:t>Narakeet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3C"/>
                          </a:solidFill>
                        </a:rPr>
                        <a:t>备注转讲解，适合批量处理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3C"/>
                          </a:solidFill>
                        </a:rPr>
                        <a:t>原生动画/转场支持有限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3C"/>
                          </a:solidFill>
                        </a:rPr>
                        <a:t>数字人创作平台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2A3C"/>
                          </a:solidFill>
                        </a:rPr>
                        <a:t>HeyGen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3C"/>
                          </a:solidFill>
                        </a:rPr>
                        <a:t>角色一致性强，ChatGPT深度集成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3C"/>
                          </a:solidFill>
                        </a:rPr>
                        <a:t>偏创作者场景，企业合规能力较弱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共性观察：现有产品普遍聚焦「配音/数字人生成」本身，对内容准确性保障、多端一致体验、企业级隔离与合规着墨较少。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市场空白与我们的机会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FCEFD9"/>
          </a:solidFill>
        </p:spPr>
      </p:sp>
      <p:pic>
        <p:nvPicPr>
          <p:cNvPr id="6" name="Image 0" descr="icons/checkcircle_B9720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939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0604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内容可信度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71800"/>
            <a:ext cx="3017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多数产品「敢生成」但不「敢担责」——数字、型号等关键事实缺少来源可追溯与确定性校验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1965960"/>
            <a:ext cx="548640" cy="548640"/>
          </a:xfrm>
          <a:prstGeom prst="ellipse">
            <a:avLst/>
          </a:prstGeom>
          <a:solidFill>
            <a:srgbClr val="FCEFD9"/>
          </a:solidFill>
        </p:spPr>
      </p:sp>
      <p:pic>
        <p:nvPicPr>
          <p:cNvPr id="11" name="Image 1" descr="icons/monitor_B972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09397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60604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多端一致体验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971800"/>
            <a:ext cx="3017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Web/移动/桌面往往各自为战，缺少统一工程模型与跨端同步机制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1965960"/>
            <a:ext cx="548640" cy="548640"/>
          </a:xfrm>
          <a:prstGeom prst="ellipse">
            <a:avLst/>
          </a:prstGeom>
          <a:solidFill>
            <a:srgbClr val="FCEFD9"/>
          </a:solidFill>
        </p:spPr>
      </p:sp>
      <p:pic>
        <p:nvPicPr>
          <p:cNvPr id="16" name="Image 2" descr="icons/shield_B972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09397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60604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企业级信任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2971800"/>
            <a:ext cx="3017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多租户隔离、数据主权、隐私处理边界大多停留在营销话术，缺少可验证的工程实现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</p:spPr>
      </p:sp>
      <p:sp>
        <p:nvSpPr>
          <p:cNvPr id="20" name="Text 15"/>
          <p:cNvSpPr txBox="1"/>
          <p:nvPr/>
        </p:nvSpPr>
        <p:spPr>
          <a:xfrm>
            <a:off x="914400" y="42062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我们的定位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914400" y="4572000"/>
            <a:ext cx="103327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不做「更花哨的配音工具」，而是做「专业内容讲得准、多端体验一致、企业敢放心用」的讲解引擎。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26307A"/>
          </a:solidFill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POSITIONING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05840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专业内容讲准、只重做改动部分、</a:t>
            </a:r>
            <a:endParaRPr lang="en-US" sz="3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语音与页面精准同步、成品可修改、</a:t>
            </a:r>
            <a:endParaRPr lang="en-US" sz="3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私有数据处理边界清晰。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9377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数字人、多语言与实时问答作为独立增强能力持续演进，不作为唯一差异化叙事。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7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目标客户与应用场景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3F6FC"/>
          </a:solidFill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6" name="Image 0" descr="icons/briefcase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2024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企业培训 / 内训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404872"/>
            <a:ext cx="4160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HR或讲师完成PPT后，无需真人录制即可生成标准化讲解内容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3F6FC"/>
          </a:solidFill>
        </p:spPr>
      </p:sp>
      <p:sp>
        <p:nvSpPr>
          <p:cNvPr id="10" name="Shape 7"/>
          <p:cNvSpPr/>
          <p:nvPr/>
        </p:nvSpPr>
        <p:spPr>
          <a:xfrm>
            <a:off x="6583680" y="196596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1" name="Image 1" descr="icons/bookopen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1214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06640" y="192024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在线课程 / 微课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406640" y="2404872"/>
            <a:ext cx="4160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教师把讲稿写入备注，自动生成配音课程视频，批量迭代更新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3F6FC"/>
          </a:solidFill>
        </p:spPr>
      </p:sp>
      <p:sp>
        <p:nvSpPr>
          <p:cNvPr id="15" name="Shape 11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6" name="Image 2" descr="icons/trendingu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2245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02336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销售 / 路演素材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507992"/>
            <a:ext cx="4160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销售提前准备讲解词，客户可自助观看配音版方案，减少重复讲解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7947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3F6FC"/>
          </a:solidFill>
        </p:spPr>
      </p:sp>
      <p:sp>
        <p:nvSpPr>
          <p:cNvPr id="20" name="Shape 15"/>
          <p:cNvSpPr/>
          <p:nvPr/>
        </p:nvSpPr>
        <p:spPr>
          <a:xfrm>
            <a:off x="6583680" y="406908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1" name="Image 3" descr="icons/glob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22452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06640" y="402336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无障碍 / 多语言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406640" y="4507992"/>
            <a:ext cx="4160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同一份PPT自动生成多语言讲解版本，服务国际化团队与客户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四步完成，专业能力渐进展开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普通用户不需要选择模型、编解码器或队列参数，专业编辑能力按需展开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1051560" cy="105156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6" name="Image 0" descr="icons/upload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346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" y="3794760"/>
            <a:ext cx="2057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上传文件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82880" y="4206240"/>
            <a:ext cx="2057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自动识别页面、备注与异常提示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28800" y="3081528"/>
            <a:ext cx="1417320" cy="54864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10" name="Shape 7"/>
          <p:cNvSpPr/>
          <p:nvPr/>
        </p:nvSpPr>
        <p:spPr>
          <a:xfrm>
            <a:off x="3337560" y="2606040"/>
            <a:ext cx="1051560" cy="105156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1" name="Image 1" descr="icons/slider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8346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34640" y="3794760"/>
            <a:ext cx="2057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选择方式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834640" y="4206240"/>
            <a:ext cx="2057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讲解方式、音色与目标时长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480560" y="3081528"/>
            <a:ext cx="1417320" cy="54864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15" name="Shape 11"/>
          <p:cNvSpPr/>
          <p:nvPr/>
        </p:nvSpPr>
        <p:spPr>
          <a:xfrm>
            <a:off x="5989320" y="2606040"/>
            <a:ext cx="1051560" cy="105156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6" name="Image 2" descr="icons/headphone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8346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486400" y="3794760"/>
            <a:ext cx="2057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试听确认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0" y="4206240"/>
            <a:ext cx="2057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逐句核对，锁定已审核内容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132320" y="3081528"/>
            <a:ext cx="1417320" cy="54864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20" name="Shape 15"/>
          <p:cNvSpPr/>
          <p:nvPr/>
        </p:nvSpPr>
        <p:spPr>
          <a:xfrm>
            <a:off x="8641080" y="2606040"/>
            <a:ext cx="1051560" cy="105156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1" name="Image 3" descr="icons/playcirc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28346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138160" y="3794760"/>
            <a:ext cx="2057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播放导出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138160" y="4206240"/>
            <a:ext cx="2057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在线播放或导出多种成品格式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三种讲稿模式，覆盖不同专业程度需求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777240" cy="7772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6" name="Image 0" descr="icons/edit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86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01752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原文朗读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29000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972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已有完整讲稿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840480"/>
            <a:ext cx="292608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读取用户选定的备注或正文，不做语义改写，只应用经确认的读音规则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73736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2103120"/>
            <a:ext cx="777240" cy="7772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2" name="Image 1" descr="icons/slider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860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301752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润色讲解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429000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972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保留原意，优化表达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3840480"/>
            <a:ext cx="292608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保持事实与结论不变，调整口语表达、转场与冗余，原稿与建议稿并排比较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173736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58200" y="2103120"/>
            <a:ext cx="777240" cy="7772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8" name="Image 2" descr="icons/cpu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2860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58200" y="301752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生成讲解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3429000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972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从零生成草稿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458200" y="3840480"/>
            <a:ext cx="292608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结合正文、备注、表格、图表与页面截图生成草稿，关键事实附带来源锚点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优先级：用户锁定稿 ＞ 用户已有备注 ＞ AI草稿；已审核内容不会被后台静默覆盖。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TRUSTWORTHY 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内容可信度：AI 不能凭空编造事实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示例：</a:t>
            </a:r>
            <a:r>
              <a:rPr lang="en-US" sz="135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页面包含「64 GB、PCIe 5.0 x16」，讲稿可以增加释义说明，但不能凭空补充带宽或推导倍数。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E2761"/>
          </a:solidFill>
        </p:spPr>
      </p:sp>
      <p:sp>
        <p:nvSpPr>
          <p:cNvPr id="6" name="Text 4"/>
          <p:cNvSpPr txBox="1"/>
          <p:nvPr/>
        </p:nvSpPr>
        <p:spPr>
          <a:xfrm>
            <a:off x="777240" y="256032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2148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双通道理解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94760"/>
            <a:ext cx="214884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结构文本 + 页面视觉截图联合理解，不只是OCR文本拼接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3931920"/>
            <a:ext cx="118872" cy="36576"/>
          </a:xfrm>
          <a:prstGeom prst="rect">
            <a:avLst/>
          </a:prstGeom>
          <a:solidFill>
            <a:srgbClr val="F2A93B"/>
          </a:solidFill>
        </p:spPr>
      </p:sp>
      <p:sp>
        <p:nvSpPr>
          <p:cNvPr id="10" name="Shape 8"/>
          <p:cNvSpPr/>
          <p:nvPr/>
        </p:nvSpPr>
        <p:spPr>
          <a:xfrm>
            <a:off x="3410712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C3785"/>
          </a:solidFill>
        </p:spPr>
      </p:sp>
      <p:sp>
        <p:nvSpPr>
          <p:cNvPr id="11" name="Text 9"/>
          <p:cNvSpPr txBox="1"/>
          <p:nvPr/>
        </p:nvSpPr>
        <p:spPr>
          <a:xfrm>
            <a:off x="3639312" y="256032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3154680"/>
            <a:ext cx="2148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事实块留痕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794760"/>
            <a:ext cx="214884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每条关键事实记录来源页码、形状ID、原始值与置信度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3931920"/>
            <a:ext cx="118872" cy="36576"/>
          </a:xfrm>
          <a:prstGeom prst="rect">
            <a:avLst/>
          </a:prstGeom>
          <a:solidFill>
            <a:srgbClr val="F2A93B"/>
          </a:solidFill>
        </p:spPr>
      </p:sp>
      <p:sp>
        <p:nvSpPr>
          <p:cNvPr id="15" name="Shape 13"/>
          <p:cNvSpPr/>
          <p:nvPr/>
        </p:nvSpPr>
        <p:spPr>
          <a:xfrm>
            <a:off x="6272784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E2761"/>
          </a:solidFill>
        </p:spPr>
      </p:sp>
      <p:sp>
        <p:nvSpPr>
          <p:cNvPr id="16" name="Text 14"/>
          <p:cNvSpPr txBox="1"/>
          <p:nvPr/>
        </p:nvSpPr>
        <p:spPr>
          <a:xfrm>
            <a:off x="6501384" y="256032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501384" y="3154680"/>
            <a:ext cx="2148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确定性校验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01384" y="3794760"/>
            <a:ext cx="214884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数字、型号、单位、日期通过确定性检查器再次比对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97112" y="3931920"/>
            <a:ext cx="118872" cy="36576"/>
          </a:xfrm>
          <a:prstGeom prst="rect">
            <a:avLst/>
          </a:prstGeom>
          <a:solidFill>
            <a:srgbClr val="F2A93B"/>
          </a:solidFill>
        </p:spPr>
      </p:sp>
      <p:sp>
        <p:nvSpPr>
          <p:cNvPr id="20" name="Shape 18"/>
          <p:cNvSpPr/>
          <p:nvPr/>
        </p:nvSpPr>
        <p:spPr>
          <a:xfrm>
            <a:off x="9134856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C3785"/>
          </a:solidFill>
        </p:spPr>
      </p:sp>
      <p:sp>
        <p:nvSpPr>
          <p:cNvPr id="21" name="Text 19"/>
          <p:cNvSpPr txBox="1"/>
          <p:nvPr/>
        </p:nvSpPr>
        <p:spPr>
          <a:xfrm>
            <a:off x="9363456" y="256032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363456" y="3154680"/>
            <a:ext cx="2148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定向修正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363456" y="3794760"/>
            <a:ext cx="214884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仅对校验失败项定向修正，仍不满足则交由用户人工审核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MULTI-PLATFORM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多端统一体验，桌面端支持隐私模式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3F6FC"/>
          </a:solidFill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6" name="Image 0" descr="icons/globe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305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96596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Web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30175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浏览器直接使用，编辑、审核、播放随时随地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3F6FC"/>
          </a:solidFill>
        </p:spPr>
      </p:sp>
      <p:sp>
        <p:nvSpPr>
          <p:cNvPr id="10" name="Shape 7"/>
          <p:cNvSpPr/>
          <p:nvPr/>
        </p:nvSpPr>
        <p:spPr>
          <a:xfrm>
            <a:off x="4617720" y="196596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1" name="Image 1" descr="icons/monito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1305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32120" y="196596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桌面端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743200"/>
            <a:ext cx="30175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支持「隐私模式」：PPT解析与配音可完全本地完成，文件不出设备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3F6FC"/>
          </a:solidFill>
        </p:spPr>
      </p:sp>
      <p:sp>
        <p:nvSpPr>
          <p:cNvPr id="15" name="Shape 11"/>
          <p:cNvSpPr/>
          <p:nvPr/>
        </p:nvSpPr>
        <p:spPr>
          <a:xfrm>
            <a:off x="8412480" y="196596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6" name="Image 2" descr="icons/smartphon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13055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326880" y="196596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移动端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2743200"/>
            <a:ext cx="30175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云端生成 + 本地缓存播放，专注审阅、试听与分享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FCEFD9"/>
          </a:solidFill>
        </p:spPr>
      </p:sp>
      <p:pic>
        <p:nvPicPr>
          <p:cNvPr id="20" name="Image 3" descr="icons/lock_B972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4340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45920" y="4251960"/>
            <a:ext cx="9692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隐私模式并非模糊承诺，而是逐项声明的能力子集</a:t>
            </a:r>
            <a:endParaRPr lang="en-US" sz="1550" dirty="0"/>
          </a:p>
        </p:txBody>
      </p:sp>
      <p:sp>
        <p:nvSpPr>
          <p:cNvPr id="22" name="Text 16"/>
          <p:cNvSpPr txBox="1"/>
          <p:nvPr/>
        </p:nvSpPr>
        <p:spPr>
          <a:xfrm>
            <a:off x="1645920" y="4709160"/>
            <a:ext cx="96926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本地解析与本地TTS能力包开启后可用；云端AI讲稿生成、数字人等能力在隐私模式下明确不可用，界面逐项标注「可用 / 不可用」，不做笼统宣传。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核心技术架构与优势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3F6FC"/>
          </a:solidFill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5720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多端客户端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063240" y="2350008"/>
            <a:ext cx="27432" cy="146304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7" name="Shape 5"/>
          <p:cNvSpPr/>
          <p:nvPr/>
        </p:nvSpPr>
        <p:spPr>
          <a:xfrm>
            <a:off x="548640" y="2496312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3F6FC"/>
          </a:solidFill>
        </p:spPr>
      </p:sp>
      <p:sp>
        <p:nvSpPr>
          <p:cNvPr id="8" name="Text 6"/>
          <p:cNvSpPr txBox="1"/>
          <p:nvPr/>
        </p:nvSpPr>
        <p:spPr>
          <a:xfrm>
            <a:off x="822960" y="2496312"/>
            <a:ext cx="45720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 API 服务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63240" y="3154680"/>
            <a:ext cx="27432" cy="146304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10" name="Shape 8"/>
          <p:cNvSpPr/>
          <p:nvPr/>
        </p:nvSpPr>
        <p:spPr>
          <a:xfrm>
            <a:off x="548640" y="3300984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</p:spPr>
      </p:sp>
      <p:sp>
        <p:nvSpPr>
          <p:cNvPr id="11" name="Text 9"/>
          <p:cNvSpPr txBox="1"/>
          <p:nvPr/>
        </p:nvSpPr>
        <p:spPr>
          <a:xfrm>
            <a:off x="822960" y="3300984"/>
            <a:ext cx="45720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可靠任务系统（PostgreSQL）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063240" y="3959352"/>
            <a:ext cx="27432" cy="146304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13" name="Shape 11"/>
          <p:cNvSpPr/>
          <p:nvPr/>
        </p:nvSpPr>
        <p:spPr>
          <a:xfrm>
            <a:off x="548640" y="4105656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3F6FC"/>
          </a:solidFill>
        </p:spPr>
      </p:sp>
      <p:sp>
        <p:nvSpPr>
          <p:cNvPr id="14" name="Text 12"/>
          <p:cNvSpPr txBox="1"/>
          <p:nvPr/>
        </p:nvSpPr>
        <p:spPr>
          <a:xfrm>
            <a:off x="822960" y="4105656"/>
            <a:ext cx="45720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 / AI / 媒体适配层</a:t>
            </a:r>
            <a:endParaRPr lang="en-US" sz="1350" dirty="0"/>
          </a:p>
        </p:txBody>
      </p:sp>
      <p:pic>
        <p:nvPicPr>
          <p:cNvPr id="15" name="Image 0" descr="icons/layers_B9720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9164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92240" y="1636776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自研 go-pptx 组件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2011680"/>
            <a:ext cx="5029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纯Go、零cgo，高保真解析写入，替代Python技术栈，部署更简洁</a:t>
            </a:r>
            <a:endParaRPr lang="en-US" sz="1100" dirty="0"/>
          </a:p>
        </p:txBody>
      </p:sp>
      <p:pic>
        <p:nvPicPr>
          <p:cNvPr id="18" name="Image 1" descr="icons/refresh_B972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71576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492240" y="2660904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可靠任务系统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492240" y="3035808"/>
            <a:ext cx="5029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数据库作为任务事实来源，崩溃可恢复、幂等防重复扣费</a:t>
            </a:r>
            <a:endParaRPr lang="en-US" sz="1100" dirty="0"/>
          </a:p>
        </p:txBody>
      </p:sp>
      <p:pic>
        <p:nvPicPr>
          <p:cNvPr id="21" name="Image 2" descr="icons/database_B972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70332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492240" y="3648456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多租户级隔离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492240" y="4023360"/>
            <a:ext cx="5029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行级安全（RLS）+ 对象存储前缀隔离，双重防线保护租户数据</a:t>
            </a:r>
            <a:endParaRPr lang="en-US" sz="1100" dirty="0"/>
          </a:p>
        </p:txBody>
      </p:sp>
      <p:pic>
        <p:nvPicPr>
          <p:cNvPr id="24" name="Image 3" descr="icons/target_B972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472744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492240" y="4672584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按需引入的工程纪律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492240" y="5047488"/>
            <a:ext cx="5029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不预置向量数据库、消息队列等基础设施，由真实规模信号驱动升级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&amp; COST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企业级安全、合规与成本优势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3F6FC"/>
          </a:solidFill>
        </p:spPr>
      </p:sp>
      <p:pic>
        <p:nvPicPr>
          <p:cNvPr id="5" name="Image 0" descr="icons/shield_1E276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201168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安全与合规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68680" y="2752344"/>
            <a:ext cx="109728" cy="10972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8" name="Text 5"/>
          <p:cNvSpPr txBox="1"/>
          <p:nvPr/>
        </p:nvSpPr>
        <p:spPr>
          <a:xfrm>
            <a:off x="1097280" y="2587752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文件安全边界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898648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限制压缩包体量、拒绝宏与脚本执行，渲染进程隔离运行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68680" y="3648456"/>
            <a:ext cx="109728" cy="10972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1" name="Text 8"/>
          <p:cNvSpPr txBox="1"/>
          <p:nvPr/>
        </p:nvSpPr>
        <p:spPr>
          <a:xfrm>
            <a:off x="1097280" y="3483864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数据最小化留存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379476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处理完成后可清除源文件，仅保留必要派生产物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68680" y="4544568"/>
            <a:ext cx="109728" cy="10972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4" name="Text 11"/>
          <p:cNvSpPr txBox="1"/>
          <p:nvPr/>
        </p:nvSpPr>
        <p:spPr>
          <a:xfrm>
            <a:off x="1097280" y="4379976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灵活存储配置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4690872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按租户选择存储后端，满足数据主权与合规诉求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72200" y="169164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</p:spPr>
      </p:sp>
      <p:pic>
        <p:nvPicPr>
          <p:cNvPr id="17" name="Image 1" descr="icons/harddriv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659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086600" y="201168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成本优化设计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6492240" y="2752344"/>
            <a:ext cx="109728" cy="10972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20" name="Text 16"/>
          <p:cNvSpPr txBox="1"/>
          <p:nvPr/>
        </p:nvSpPr>
        <p:spPr>
          <a:xfrm>
            <a:off x="6720840" y="2587752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分层生命周期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720840" y="2898648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按资产访问频率自动分层存储，降低长期存储成本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492240" y="3648456"/>
            <a:ext cx="109728" cy="10972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23" name="Text 19"/>
          <p:cNvSpPr txBox="1"/>
          <p:nvPr/>
        </p:nvSpPr>
        <p:spPr>
          <a:xfrm>
            <a:off x="6720840" y="3483864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内容去重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720840" y="379476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相同文本与参数的音频不重复调用与存储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492240" y="4544568"/>
            <a:ext cx="109728" cy="10972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26" name="Text 22"/>
          <p:cNvSpPr txBox="1"/>
          <p:nvPr/>
        </p:nvSpPr>
        <p:spPr>
          <a:xfrm>
            <a:off x="6720840" y="4379976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部署档位可伸缩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6720840" y="4690872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从单机试点到高可用规模化，按真实指标驱动升级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 &amp; NEXT STEP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产品路线图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F2A93B"/>
          </a:solidFill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2148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基础闭环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88920" y="2276856"/>
            <a:ext cx="182880" cy="36576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7" name="Shape 5"/>
          <p:cNvSpPr/>
          <p:nvPr/>
        </p:nvSpPr>
        <p:spPr>
          <a:xfrm>
            <a:off x="2971800" y="192024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2C3785"/>
          </a:solidFill>
        </p:spPr>
      </p:sp>
      <p:sp>
        <p:nvSpPr>
          <p:cNvPr id="8" name="Text 6"/>
          <p:cNvSpPr txBox="1"/>
          <p:nvPr/>
        </p:nvSpPr>
        <p:spPr>
          <a:xfrm>
            <a:off x="2971800" y="1920240"/>
            <a:ext cx="2148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产品化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20640" y="2276856"/>
            <a:ext cx="182880" cy="36576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10" name="Shape 8"/>
          <p:cNvSpPr/>
          <p:nvPr/>
        </p:nvSpPr>
        <p:spPr>
          <a:xfrm>
            <a:off x="5303520" y="192024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2C3785"/>
          </a:solidFill>
        </p:spPr>
      </p:sp>
      <p:sp>
        <p:nvSpPr>
          <p:cNvPr id="11" name="Text 9"/>
          <p:cNvSpPr txBox="1"/>
          <p:nvPr/>
        </p:nvSpPr>
        <p:spPr>
          <a:xfrm>
            <a:off x="5303520" y="1920240"/>
            <a:ext cx="2148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商用加固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52360" y="2276856"/>
            <a:ext cx="182880" cy="36576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13" name="Shape 11"/>
          <p:cNvSpPr/>
          <p:nvPr/>
        </p:nvSpPr>
        <p:spPr>
          <a:xfrm>
            <a:off x="7635240" y="192024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2C3785"/>
          </a:solidFill>
        </p:spPr>
      </p:sp>
      <p:sp>
        <p:nvSpPr>
          <p:cNvPr id="14" name="Text 12"/>
          <p:cNvSpPr txBox="1"/>
          <p:nvPr/>
        </p:nvSpPr>
        <p:spPr>
          <a:xfrm>
            <a:off x="7635240" y="1920240"/>
            <a:ext cx="2148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统一多端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784080" y="2276856"/>
            <a:ext cx="182880" cy="36576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16" name="Shape 14"/>
          <p:cNvSpPr/>
          <p:nvPr/>
        </p:nvSpPr>
        <p:spPr>
          <a:xfrm>
            <a:off x="9966960" y="192024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2C3785"/>
          </a:solidFill>
        </p:spPr>
      </p:sp>
      <p:sp>
        <p:nvSpPr>
          <p:cNvPr id="17" name="Text 15"/>
          <p:cNvSpPr txBox="1"/>
          <p:nvPr/>
        </p:nvSpPr>
        <p:spPr>
          <a:xfrm>
            <a:off x="9966960" y="1920240"/>
            <a:ext cx="2148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能力扩展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01752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从产品验证到企业级服务的渐进式演进：先跑通核心闭环验证价值，再逐步加固安全合规与多端能力，避免过早的架构复杂度。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10881360" cy="18288"/>
          </a:xfrm>
          <a:prstGeom prst="rect">
            <a:avLst/>
          </a:prstGeom>
          <a:solidFill>
            <a:srgbClr val="3A4590"/>
          </a:solidFill>
        </p:spPr>
      </p:sp>
      <p:sp>
        <p:nvSpPr>
          <p:cNvPr id="20" name="Text 18"/>
          <p:cNvSpPr txBox="1"/>
          <p:nvPr/>
        </p:nvSpPr>
        <p:spPr>
          <a:xfrm>
            <a:off x="640080" y="420624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期待与您深入探讨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800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我们可以从一次真实的PPT试跑开始，共同验证内容准确性与多端体验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48640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F2A93B"/>
          </a:solidFill>
        </p:spPr>
      </p:sp>
      <p:sp>
        <p:nvSpPr>
          <p:cNvPr id="23" name="Text 21"/>
          <p:cNvSpPr txBox="1"/>
          <p:nvPr/>
        </p:nvSpPr>
        <p:spPr>
          <a:xfrm>
            <a:off x="640080" y="548640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联系我们</a:t>
            </a:r>
            <a:r>
              <a:rPr lang="zh-CN" alt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：</a:t>
            </a:r>
            <a:r>
              <a:rPr lang="en-US" altLang="zh-CN" sz="1300" b="1" dirty="0">
                <a:solidFill>
                  <a:srgbClr val="1E276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18657168661</a:t>
            </a:r>
            <a:endParaRPr lang="en-US" altLang="zh-CN" sz="1300" b="1" dirty="0">
              <a:solidFill>
                <a:srgbClr val="1E276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7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7280" y="4754880"/>
            <a:ext cx="1532890" cy="14141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2435</Words>
  <Application>WPS 演示</Application>
  <PresentationFormat>On-screen Show (16:9)</PresentationFormat>
  <Paragraphs>348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Calibri</vt:lpstr>
      <vt:lpstr>Calibri</vt:lpstr>
      <vt:lpstr>Calibri</vt:lpstr>
      <vt:lpstr>Cambria</vt:lpstr>
      <vt:lpstr>Cambria</vt:lpstr>
      <vt:lpstr>Cambria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PPT 自动讲解平台 - 客户方案讲解</dc:title>
  <dc:creator>产品方案组</dc:creator>
  <dc:subject>PptxGenJS Presentation</dc:subject>
  <cp:lastModifiedBy>风</cp:lastModifiedBy>
  <cp:revision>3</cp:revision>
  <dcterms:created xsi:type="dcterms:W3CDTF">2026-09-13T06:28:00Z</dcterms:created>
  <dcterms:modified xsi:type="dcterms:W3CDTF">2026-09-13T06:35:23Z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2052-12.1.0.28599</vt:lpwstr>
  </property>
  <property fmtid="{D5CDD505-2E9C-101B-9397-08002B2CF9AE}" pid="3" name="ICV">
    <vt:lpwstr>3C7EDC8F12CE45178A012246DD00F0D6_13</vt:lpwstr>
  </property>
</Properties>
</file>